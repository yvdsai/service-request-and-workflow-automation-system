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handoutMasterIdLst>
    <p:handoutMasterId r:id="rId21"/>
  </p:handoutMasterIdLst>
  <p:sldIdLst>
    <p:sldId id="256" r:id="rId2"/>
    <p:sldId id="258" r:id="rId3"/>
    <p:sldId id="257" r:id="rId4"/>
    <p:sldId id="275" r:id="rId5"/>
    <p:sldId id="259" r:id="rId6"/>
    <p:sldId id="260" r:id="rId7"/>
    <p:sldId id="261" r:id="rId8"/>
    <p:sldId id="262" r:id="rId9"/>
    <p:sldId id="263" r:id="rId10"/>
    <p:sldId id="264" r:id="rId11"/>
    <p:sldId id="265" r:id="rId12"/>
    <p:sldId id="266" r:id="rId13"/>
    <p:sldId id="267" r:id="rId14"/>
    <p:sldId id="270" r:id="rId15"/>
    <p:sldId id="271" r:id="rId16"/>
    <p:sldId id="272" r:id="rId17"/>
    <p:sldId id="269"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0" clrIdx="0">
    <p:extLst>
      <p:ext uri="{19B8F6BF-5375-455C-9EA6-DF929625EA0E}">
        <p15:presenceInfo xmlns:p15="http://schemas.microsoft.com/office/powerpoint/2012/main" userId="P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73CC24-4C2F-444D-B758-736D8F06B1D7}" v="2" dt="2026-04-09T06:14:11.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59" autoAdjust="0"/>
    <p:restoredTop sz="94660"/>
  </p:normalViewPr>
  <p:slideViewPr>
    <p:cSldViewPr snapToGrid="0">
      <p:cViewPr varScale="1">
        <p:scale>
          <a:sx n="74" d="100"/>
          <a:sy n="74" d="100"/>
        </p:scale>
        <p:origin x="2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ga Prasad Doddipatla" userId="8c77f9d2f1c35575" providerId="LiveId" clId="{CF4D85B0-B08A-4CCF-84A1-7FB74CF54B4C}"/>
    <pc:docChg chg="undo custSel addSld delSld modSld">
      <pc:chgData name="Durga Prasad Doddipatla" userId="8c77f9d2f1c35575" providerId="LiveId" clId="{CF4D85B0-B08A-4CCF-84A1-7FB74CF54B4C}" dt="2026-04-09T06:29:58.230" v="816" actId="47"/>
      <pc:docMkLst>
        <pc:docMk/>
      </pc:docMkLst>
      <pc:sldChg chg="addSp delSp modSp mod">
        <pc:chgData name="Durga Prasad Doddipatla" userId="8c77f9d2f1c35575" providerId="LiveId" clId="{CF4D85B0-B08A-4CCF-84A1-7FB74CF54B4C}" dt="2026-04-09T06:09:42.521" v="796" actId="1076"/>
        <pc:sldMkLst>
          <pc:docMk/>
          <pc:sldMk cId="3753794071" sldId="256"/>
        </pc:sldMkLst>
        <pc:spChg chg="mod">
          <ac:chgData name="Durga Prasad Doddipatla" userId="8c77f9d2f1c35575" providerId="LiveId" clId="{CF4D85B0-B08A-4CCF-84A1-7FB74CF54B4C}" dt="2026-04-09T06:09:34.568" v="794" actId="1076"/>
          <ac:spMkLst>
            <pc:docMk/>
            <pc:sldMk cId="3753794071" sldId="256"/>
            <ac:spMk id="19" creationId="{FA16E9E6-33F7-2B6F-BB35-9972270920B5}"/>
          </ac:spMkLst>
        </pc:spChg>
        <pc:spChg chg="add mod">
          <ac:chgData name="Durga Prasad Doddipatla" userId="8c77f9d2f1c35575" providerId="LiveId" clId="{CF4D85B0-B08A-4CCF-84A1-7FB74CF54B4C}" dt="2026-04-09T06:09:42.521" v="796" actId="1076"/>
          <ac:spMkLst>
            <pc:docMk/>
            <pc:sldMk cId="3753794071" sldId="256"/>
            <ac:spMk id="21" creationId="{15E4E015-A894-BBA5-E167-70E2341AD22A}"/>
          </ac:spMkLst>
        </pc:spChg>
      </pc:sldChg>
      <pc:sldChg chg="modSp new add del mod">
        <pc:chgData name="Durga Prasad Doddipatla" userId="8c77f9d2f1c35575" providerId="LiveId" clId="{CF4D85B0-B08A-4CCF-84A1-7FB74CF54B4C}" dt="2026-04-09T06:29:58.230" v="816" actId="47"/>
        <pc:sldMkLst>
          <pc:docMk/>
          <pc:sldMk cId="820839500" sldId="275"/>
        </pc:sldMkLst>
        <pc:spChg chg="mod">
          <ac:chgData name="Durga Prasad Doddipatla" userId="8c77f9d2f1c35575" providerId="LiveId" clId="{CF4D85B0-B08A-4CCF-84A1-7FB74CF54B4C}" dt="2026-04-09T06:16:19.958" v="809" actId="1076"/>
          <ac:spMkLst>
            <pc:docMk/>
            <pc:sldMk cId="820839500" sldId="275"/>
            <ac:spMk id="2" creationId="{01EF7E44-A0CF-0FC5-6C7F-4173A547F6B3}"/>
          </ac:spMkLst>
        </pc:spChg>
        <pc:spChg chg="mod">
          <ac:chgData name="Durga Prasad Doddipatla" userId="8c77f9d2f1c35575" providerId="LiveId" clId="{CF4D85B0-B08A-4CCF-84A1-7FB74CF54B4C}" dt="2026-04-09T06:17:11.491" v="814" actId="113"/>
          <ac:spMkLst>
            <pc:docMk/>
            <pc:sldMk cId="820839500" sldId="275"/>
            <ac:spMk id="3" creationId="{2D21C2DF-AD4B-8C0F-C74C-92F359C722F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967349-28AA-4A12-8EC0-1630D030D0B2}" type="datetimeFigureOut">
              <a:rPr lang="en-US" smtClean="0"/>
              <a:t>4/9/2026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F8C3FA-73CB-419C-849B-7D40572E3D9A}" type="slidenum">
              <a:rPr lang="en-US" smtClean="0"/>
              <a:t>‹#›</a:t>
            </a:fld>
            <a:endParaRPr lang="en-US"/>
          </a:p>
        </p:txBody>
      </p:sp>
    </p:spTree>
    <p:extLst>
      <p:ext uri="{BB962C8B-B14F-4D97-AF65-F5344CB8AC3E}">
        <p14:creationId xmlns:p14="http://schemas.microsoft.com/office/powerpoint/2010/main" val="13572461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EBEDC0-56C6-4BCD-9AB4-66D2945F4585}"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AF372F-F703-4235-A8A8-751CFF809AFF}" type="slidenum">
              <a:rPr lang="en-US" smtClean="0"/>
              <a:t>‹#›</a:t>
            </a:fld>
            <a:endParaRPr lang="en-US"/>
          </a:p>
        </p:txBody>
      </p:sp>
    </p:spTree>
    <p:extLst>
      <p:ext uri="{BB962C8B-B14F-4D97-AF65-F5344CB8AC3E}">
        <p14:creationId xmlns:p14="http://schemas.microsoft.com/office/powerpoint/2010/main" val="35967170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80AA23-D647-4D4D-AE90-D1F6A14FABE8}"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C1F2B3-80E6-4275-B9DD-81BC5E1AB5FE}"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8048ADB-BB59-496D-AE6F-1588774A60E4}"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93CB9C-4406-4142-A2EC-6BFCB4E20225}" type="datetime1">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B99D16-CA73-4ED6-9806-BD2204F44D80}" type="datetime1">
              <a:rPr lang="en-US" smtClean="0"/>
              <a:t>4/9/2026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7AD15F-8FDF-4A82-9E74-FA198C0B7DC1}" type="datetime1">
              <a:rPr lang="en-US" smtClean="0"/>
              <a:t>4/9/2026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26F486-5BB1-41AA-B2B0-65C4AF734C15}" type="datetime1">
              <a:rPr lang="en-US" smtClean="0"/>
              <a:t>4/9/2026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2F74A96-A057-4257-B6EC-9AC0C3A5E302}" type="datetime1">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1D5EC0E-3BEC-40CD-B1CC-E0BC971064E2}" type="datetime1">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3A06CCC-234C-4355-98C2-9A8FC0F8BD92}"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85F6DD4-6B6B-4B1F-9D5C-A0800B5748DA}"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9C9F976-B035-4711-AB44-8C068FE339B0}" type="datetime1">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5D969F3-4DC9-4435-8858-6F397717C48C}" type="datetime1">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457E3E2-722B-4BE8-9D05-A3245B605E58}" type="datetime1">
              <a:rPr lang="en-US" smtClean="0"/>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12C119-E94D-4B70-AC6B-B3AFC2F6E885}"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7E66B9-3C57-428D-ACAB-D09953BBD4CB}" type="datetime1">
              <a:rPr lang="en-US" smtClean="0"/>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2A8686A-F404-47F6-AD4B-0B33510BEAF5}" type="datetime1">
              <a:rPr lang="en-US" smtClean="0"/>
              <a:t>4/9/2026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7715" y="66195"/>
            <a:ext cx="11036968" cy="1692893"/>
          </a:xfrm>
        </p:spPr>
        <p:txBody>
          <a:bodyPr>
            <a:noAutofit/>
          </a:bodyPr>
          <a:lstStyle/>
          <a:p>
            <a:pPr algn="ctr"/>
            <a:r>
              <a:rPr lang="en-US" sz="5000" b="1" dirty="0">
                <a:latin typeface="Times New Roman" panose="02020603050405020304" pitchFamily="18" charset="0"/>
                <a:cs typeface="Times New Roman" panose="02020603050405020304" pitchFamily="18" charset="0"/>
              </a:rPr>
              <a:t>Service Request And Workflow Automation System</a:t>
            </a:r>
          </a:p>
        </p:txBody>
      </p:sp>
      <p:sp>
        <p:nvSpPr>
          <p:cNvPr id="6" name="Rectangle 5"/>
          <p:cNvSpPr/>
          <p:nvPr/>
        </p:nvSpPr>
        <p:spPr>
          <a:xfrm>
            <a:off x="3473266" y="1759088"/>
            <a:ext cx="5935580" cy="1754326"/>
          </a:xfrm>
          <a:prstGeom prst="rect">
            <a:avLst/>
          </a:prstGeom>
        </p:spPr>
        <p:txBody>
          <a:bodyPr wrap="square">
            <a:spAutoFit/>
          </a:bodyPr>
          <a:lstStyle/>
          <a:p>
            <a:r>
              <a:rPr lang="en-US" sz="2000" b="1" dirty="0"/>
              <a:t>				PROJECT MEMBERS:</a:t>
            </a:r>
          </a:p>
          <a:p>
            <a:r>
              <a:rPr lang="en-US" sz="2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D. DURGA PRASAD 		          23225A0505 </a:t>
            </a:r>
          </a:p>
          <a:p>
            <a:r>
              <a:rPr lang="en-US" sz="1600" dirty="0">
                <a:latin typeface="Times New Roman" panose="02020603050405020304" pitchFamily="18" charset="0"/>
                <a:cs typeface="Times New Roman" panose="02020603050405020304" pitchFamily="18" charset="0"/>
              </a:rPr>
              <a:t> P. KASI 						 23225A0510</a:t>
            </a:r>
          </a:p>
          <a:p>
            <a:r>
              <a:rPr lang="en-US" sz="1600" dirty="0">
                <a:latin typeface="Times New Roman" panose="02020603050405020304" pitchFamily="18" charset="0"/>
                <a:cs typeface="Times New Roman" panose="02020603050405020304" pitchFamily="18" charset="0"/>
              </a:rPr>
              <a:t> Y. V. D. SAI 					 23225A0512</a:t>
            </a:r>
          </a:p>
          <a:p>
            <a:r>
              <a:rPr lang="en-US" sz="1600" dirty="0">
                <a:latin typeface="Times New Roman" panose="02020603050405020304" pitchFamily="18" charset="0"/>
                <a:cs typeface="Times New Roman" panose="02020603050405020304" pitchFamily="18" charset="0"/>
              </a:rPr>
              <a:t> K.SAI RAM 					 23225A0506</a:t>
            </a:r>
          </a:p>
          <a:p>
            <a:r>
              <a:rPr lang="en-US" sz="1600" dirty="0">
                <a:latin typeface="Times New Roman" panose="02020603050405020304" pitchFamily="18" charset="0"/>
                <a:cs typeface="Times New Roman" panose="02020603050405020304" pitchFamily="18" charset="0"/>
              </a:rPr>
              <a:t> S. S. R. CH. PHANI KUMAR               23225A0511</a:t>
            </a:r>
          </a:p>
        </p:txBody>
      </p:sp>
      <p:sp>
        <p:nvSpPr>
          <p:cNvPr id="8" name="Slide Number Placeholder 7"/>
          <p:cNvSpPr>
            <a:spLocks noGrp="1"/>
          </p:cNvSpPr>
          <p:nvPr>
            <p:ph type="sldNum" sz="quarter" idx="12"/>
          </p:nvPr>
        </p:nvSpPr>
        <p:spPr/>
        <p:txBody>
          <a:bodyPr/>
          <a:lstStyle/>
          <a:p>
            <a:fld id="{D57F1E4F-1CFF-5643-939E-217C01CDF565}" type="slidenum">
              <a:rPr lang="en-US" smtClean="0"/>
              <a:pPr/>
              <a:t>1</a:t>
            </a:fld>
            <a:endParaRPr lang="en-US" dirty="0"/>
          </a:p>
        </p:txBody>
      </p:sp>
      <p:sp>
        <p:nvSpPr>
          <p:cNvPr id="11" name="TextBox 10">
            <a:extLst>
              <a:ext uri="{FF2B5EF4-FFF2-40B4-BE49-F238E27FC236}">
                <a16:creationId xmlns:a16="http://schemas.microsoft.com/office/drawing/2014/main" id="{4DB5C4D1-201C-3A08-85C3-61880F9B995C}"/>
              </a:ext>
            </a:extLst>
          </p:cNvPr>
          <p:cNvSpPr txBox="1"/>
          <p:nvPr/>
        </p:nvSpPr>
        <p:spPr>
          <a:xfrm>
            <a:off x="6860876" y="3513414"/>
            <a:ext cx="2654779" cy="861774"/>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 Project Co-Ordinator:</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Mr. M. V. K. SUBASH</a:t>
            </a:r>
          </a:p>
          <a:p>
            <a:r>
              <a:rPr lang="en-US" sz="1400" dirty="0">
                <a:latin typeface="Times New Roman" panose="02020603050405020304" pitchFamily="18" charset="0"/>
                <a:cs typeface="Times New Roman" panose="02020603050405020304" pitchFamily="18" charset="0"/>
              </a:rPr>
              <a:t>   	            M. Tech., (Ph. D)</a:t>
            </a:r>
            <a:endParaRPr lang="en-IN" sz="1400" dirty="0"/>
          </a:p>
        </p:txBody>
      </p:sp>
      <p:sp>
        <p:nvSpPr>
          <p:cNvPr id="13" name="TextBox 12">
            <a:extLst>
              <a:ext uri="{FF2B5EF4-FFF2-40B4-BE49-F238E27FC236}">
                <a16:creationId xmlns:a16="http://schemas.microsoft.com/office/drawing/2014/main" id="{8EA20272-3C32-495B-976A-A89140062D28}"/>
              </a:ext>
            </a:extLst>
          </p:cNvPr>
          <p:cNvSpPr txBox="1"/>
          <p:nvPr/>
        </p:nvSpPr>
        <p:spPr>
          <a:xfrm>
            <a:off x="4366764" y="4433000"/>
            <a:ext cx="3458472"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      Head Of the Department</a:t>
            </a:r>
          </a:p>
          <a:p>
            <a:r>
              <a:rPr lang="en-US" b="1" dirty="0">
                <a:latin typeface="Times New Roman" panose="02020603050405020304" pitchFamily="18" charset="0"/>
                <a:cs typeface="Times New Roman" panose="02020603050405020304" pitchFamily="18" charset="0"/>
              </a:rPr>
              <a:t>   Dr. MEERA SHARIF SHEIK</a:t>
            </a:r>
          </a:p>
          <a:p>
            <a:pPr algn="ctr"/>
            <a:r>
              <a:rPr lang="en-US" dirty="0">
                <a:latin typeface="Times New Roman" panose="02020603050405020304" pitchFamily="18" charset="0"/>
                <a:cs typeface="Times New Roman" panose="02020603050405020304" pitchFamily="18" charset="0"/>
              </a:rPr>
              <a:t>                        M. Tech., Ph. D</a:t>
            </a:r>
            <a:endParaRPr lang="en-IN" dirty="0"/>
          </a:p>
        </p:txBody>
      </p:sp>
      <p:sp>
        <p:nvSpPr>
          <p:cNvPr id="17" name="TextBox 16">
            <a:extLst>
              <a:ext uri="{FF2B5EF4-FFF2-40B4-BE49-F238E27FC236}">
                <a16:creationId xmlns:a16="http://schemas.microsoft.com/office/drawing/2014/main" id="{6C8C8EEB-8885-AAA5-064E-1AB45E7AEE44}"/>
              </a:ext>
            </a:extLst>
          </p:cNvPr>
          <p:cNvSpPr txBox="1"/>
          <p:nvPr/>
        </p:nvSpPr>
        <p:spPr>
          <a:xfrm>
            <a:off x="2521070" y="3656384"/>
            <a:ext cx="2448465" cy="861774"/>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Project Supervisor:</a:t>
            </a:r>
          </a:p>
          <a:p>
            <a:r>
              <a:rPr lang="en-US" b="1" dirty="0">
                <a:latin typeface="Times New Roman" panose="02020603050405020304" pitchFamily="18" charset="0"/>
                <a:cs typeface="Times New Roman" panose="02020603050405020304" pitchFamily="18" charset="0"/>
              </a:rPr>
              <a:t> Mrs. B. REVATHI</a:t>
            </a:r>
          </a:p>
          <a:p>
            <a:pPr algn="ct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 Tech</a:t>
            </a:r>
            <a:r>
              <a:rPr lang="en-US" sz="1400" b="1" dirty="0">
                <a:latin typeface="Times New Roman" panose="02020603050405020304" pitchFamily="18" charset="0"/>
                <a:cs typeface="Times New Roman" panose="02020603050405020304" pitchFamily="18" charset="0"/>
              </a:rPr>
              <a:t>.</a:t>
            </a:r>
            <a:endParaRPr lang="en-IN" sz="1400" dirty="0"/>
          </a:p>
        </p:txBody>
      </p:sp>
      <p:sp>
        <p:nvSpPr>
          <p:cNvPr id="19" name="TextBox 18">
            <a:extLst>
              <a:ext uri="{FF2B5EF4-FFF2-40B4-BE49-F238E27FC236}">
                <a16:creationId xmlns:a16="http://schemas.microsoft.com/office/drawing/2014/main" id="{FA16E9E6-33F7-2B6F-BB35-9972270920B5}"/>
              </a:ext>
            </a:extLst>
          </p:cNvPr>
          <p:cNvSpPr txBox="1"/>
          <p:nvPr/>
        </p:nvSpPr>
        <p:spPr>
          <a:xfrm>
            <a:off x="3619571" y="5410710"/>
            <a:ext cx="5472326"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Department Of Computer Science And Engineering</a:t>
            </a:r>
            <a:endParaRPr lang="en-IN" b="1" dirty="0"/>
          </a:p>
        </p:txBody>
      </p:sp>
      <p:sp>
        <p:nvSpPr>
          <p:cNvPr id="21" name="TextBox 20">
            <a:extLst>
              <a:ext uri="{FF2B5EF4-FFF2-40B4-BE49-F238E27FC236}">
                <a16:creationId xmlns:a16="http://schemas.microsoft.com/office/drawing/2014/main" id="{15E4E015-A894-BBA5-E167-70E2341AD22A}"/>
              </a:ext>
            </a:extLst>
          </p:cNvPr>
          <p:cNvSpPr txBox="1"/>
          <p:nvPr/>
        </p:nvSpPr>
        <p:spPr>
          <a:xfrm>
            <a:off x="5345197" y="5879550"/>
            <a:ext cx="3534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2025-2026</a:t>
            </a:r>
            <a:endParaRPr lang="en-IN" b="1" dirty="0"/>
          </a:p>
        </p:txBody>
      </p:sp>
    </p:spTree>
    <p:extLst>
      <p:ext uri="{BB962C8B-B14F-4D97-AF65-F5344CB8AC3E}">
        <p14:creationId xmlns:p14="http://schemas.microsoft.com/office/powerpoint/2010/main" val="3753794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1451" y="511816"/>
            <a:ext cx="8893223" cy="1252816"/>
          </a:xfrm>
        </p:spPr>
        <p:txBody>
          <a:bodyPr>
            <a:normAutofit/>
          </a:bodyPr>
          <a:lstStyle/>
          <a:p>
            <a:pPr algn="ctr"/>
            <a:r>
              <a:rPr lang="en-US" sz="44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1915443" y="1604210"/>
            <a:ext cx="9907588" cy="4588044"/>
          </a:xfrm>
        </p:spPr>
        <p:txBody>
          <a:bodyPr>
            <a:normAutofit fontScale="77500" lnSpcReduction="20000"/>
          </a:bodyPr>
          <a:lstStyle/>
          <a:p>
            <a:pPr algn="just"/>
            <a:r>
              <a:rPr lang="en-US" sz="3100" dirty="0">
                <a:latin typeface="Times New Roman" panose="02020603050405020304" pitchFamily="18" charset="0"/>
                <a:cs typeface="Times New Roman" panose="02020603050405020304" pitchFamily="18" charset="0"/>
              </a:rPr>
              <a:t>The Service Request And Workflow Automation System is a web-based application designed to automate the process of raising, tracking, and resolving service requests within an organization. The system enables users to submit service requests online and ensures that each request follows a predefined workflow for approval, processing, and resolution. This reduces manual intervention and improves operational efficiency.</a:t>
            </a:r>
          </a:p>
          <a:p>
            <a:pPr algn="just"/>
            <a:endParaRPr lang="en-US" sz="3100" dirty="0">
              <a:latin typeface="Times New Roman" panose="02020603050405020304" pitchFamily="18" charset="0"/>
              <a:cs typeface="Times New Roman" panose="02020603050405020304" pitchFamily="18" charset="0"/>
            </a:endParaRPr>
          </a:p>
          <a:p>
            <a:pPr algn="just"/>
            <a:r>
              <a:rPr lang="en-US" sz="3100" dirty="0">
                <a:latin typeface="Times New Roman" panose="02020603050405020304" pitchFamily="18" charset="0"/>
                <a:cs typeface="Times New Roman" panose="02020603050405020304" pitchFamily="18" charset="0"/>
              </a:rPr>
              <a:t>The application provides separate interfaces for users and administrators. Users can create service requests, track request status, and receive updates, while administrators can manage workflows, assign tasks, monitor progress, and generate reports. The system is developed using Java Full Stack technologies such as Spring Boot, REST APIs, MySQL, and modern frontend frameworks. The proposed solution improves transparency, accountability, and efficiency in handling organizational service operations</a:t>
            </a:r>
            <a:r>
              <a:rPr lang="en-US" dirty="0"/>
              <a:t>.</a:t>
            </a:r>
          </a:p>
        </p:txBody>
      </p:sp>
      <p:sp>
        <p:nvSpPr>
          <p:cNvPr id="4" name="Slide Number Placeholder 3"/>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557059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1916" y="303267"/>
            <a:ext cx="9804149" cy="931974"/>
          </a:xfrm>
        </p:spPr>
        <p:txBody>
          <a:bodyPr>
            <a:normAutofit/>
          </a:bodyPr>
          <a:lstStyle/>
          <a:p>
            <a:pPr algn="ctr"/>
            <a:r>
              <a:rPr lang="en-US" sz="4000" b="1" dirty="0">
                <a:latin typeface="Times New Roman" panose="02020603050405020304" pitchFamily="18" charset="0"/>
                <a:cs typeface="Times New Roman" panose="02020603050405020304" pitchFamily="18" charset="0"/>
              </a:rPr>
              <a:t>Introduction</a:t>
            </a:r>
          </a:p>
        </p:txBody>
      </p:sp>
      <p:sp>
        <p:nvSpPr>
          <p:cNvPr id="4" name="Slide Number Placeholder 3"/>
          <p:cNvSpPr>
            <a:spLocks noGrp="1"/>
          </p:cNvSpPr>
          <p:nvPr>
            <p:ph type="sldNum" sz="quarter" idx="12"/>
          </p:nvPr>
        </p:nvSpPr>
        <p:spPr/>
        <p:txBody>
          <a:bodyPr/>
          <a:lstStyle/>
          <a:p>
            <a:fld id="{D57F1E4F-1CFF-5643-939E-217C01CDF565}" type="slidenum">
              <a:rPr lang="en-US" smtClean="0"/>
              <a:pPr/>
              <a:t>3</a:t>
            </a:fld>
            <a:endParaRPr lang="en-US" dirty="0"/>
          </a:p>
        </p:txBody>
      </p:sp>
      <p:sp>
        <p:nvSpPr>
          <p:cNvPr id="6" name="Rectangle 2"/>
          <p:cNvSpPr>
            <a:spLocks noGrp="1" noChangeArrowheads="1"/>
          </p:cNvSpPr>
          <p:nvPr>
            <p:ph idx="1"/>
          </p:nvPr>
        </p:nvSpPr>
        <p:spPr bwMode="auto">
          <a:xfrm>
            <a:off x="1008668" y="1627810"/>
            <a:ext cx="1118333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requests include IT support, maintenance, approvals, and assistance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handling causes delays, poor tracking, and lack of accountability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methods like paper forms and emails are inefficient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centralized system to monitor request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approvals increased workload and reduced transparency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Requests follow predefined workflow stages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Role-based access for users, admins, and service staff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status updates improve transparency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processing and reduced manual effort</a:t>
            </a:r>
          </a:p>
        </p:txBody>
      </p:sp>
    </p:spTree>
    <p:extLst>
      <p:ext uri="{BB962C8B-B14F-4D97-AF65-F5344CB8AC3E}">
        <p14:creationId xmlns:p14="http://schemas.microsoft.com/office/powerpoint/2010/main" val="1370901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F7E44-A0CF-0FC5-6C7F-4173A547F6B3}"/>
              </a:ext>
            </a:extLst>
          </p:cNvPr>
          <p:cNvSpPr>
            <a:spLocks noGrp="1"/>
          </p:cNvSpPr>
          <p:nvPr>
            <p:ph type="title"/>
          </p:nvPr>
        </p:nvSpPr>
        <p:spPr>
          <a:xfrm>
            <a:off x="2205164" y="787782"/>
            <a:ext cx="8911687" cy="799248"/>
          </a:xfrm>
        </p:spPr>
        <p:txBody>
          <a:bodyPr>
            <a:normAutofit fontScale="90000"/>
          </a:bodyPr>
          <a:lstStyle/>
          <a:p>
            <a:pPr algn="ctr"/>
            <a:r>
              <a:rPr lang="en-US" b="1" dirty="0"/>
              <a:t>Problem Statement</a:t>
            </a:r>
            <a:br>
              <a:rPr lang="en-US" b="1" dirty="0"/>
            </a:br>
            <a:endParaRPr lang="en-IN" dirty="0"/>
          </a:p>
        </p:txBody>
      </p:sp>
      <p:sp>
        <p:nvSpPr>
          <p:cNvPr id="3" name="Content Placeholder 2">
            <a:extLst>
              <a:ext uri="{FF2B5EF4-FFF2-40B4-BE49-F238E27FC236}">
                <a16:creationId xmlns:a16="http://schemas.microsoft.com/office/drawing/2014/main" id="{2D21C2DF-AD4B-8C0F-C74C-92F359C722FB}"/>
              </a:ext>
            </a:extLst>
          </p:cNvPr>
          <p:cNvSpPr>
            <a:spLocks noGrp="1"/>
          </p:cNvSpPr>
          <p:nvPr>
            <p:ph idx="1"/>
          </p:nvPr>
        </p:nvSpPr>
        <p:spPr>
          <a:xfrm>
            <a:off x="2205164" y="1840992"/>
            <a:ext cx="8915400" cy="3777622"/>
          </a:xfrm>
        </p:spPr>
        <p:txBody>
          <a:bodyPr>
            <a:normAutofit lnSpcReduction="10000"/>
          </a:bodyPr>
          <a:lstStyle/>
          <a:p>
            <a:r>
              <a:rPr lang="en-US" dirty="0"/>
              <a:t>Organizations handle service requests (IT support, maintenance, approvals) using manual or semi-automated methods such as emails, phone calls, or paper forms. </a:t>
            </a:r>
          </a:p>
          <a:p>
            <a:r>
              <a:rPr lang="en-US" dirty="0"/>
              <a:t>These traditional approaches lead to: </a:t>
            </a:r>
          </a:p>
          <a:p>
            <a:pPr lvl="1"/>
            <a:r>
              <a:rPr lang="en-US" dirty="0"/>
              <a:t>Delays in request processing </a:t>
            </a:r>
          </a:p>
          <a:p>
            <a:pPr lvl="1"/>
            <a:r>
              <a:rPr lang="en-US" dirty="0"/>
              <a:t>Lack of transparency and tracking </a:t>
            </a:r>
          </a:p>
          <a:p>
            <a:pPr lvl="1"/>
            <a:r>
              <a:rPr lang="en-US" dirty="0"/>
              <a:t>Poor communication between users and service teams </a:t>
            </a:r>
          </a:p>
          <a:p>
            <a:r>
              <a:rPr lang="en-US" dirty="0"/>
              <a:t>There is no centralized system to manage and monitor service requests efficiently. </a:t>
            </a:r>
          </a:p>
          <a:p>
            <a:r>
              <a:rPr lang="en-US" dirty="0"/>
              <a:t>Manual workflows increase human errors, workload, and inefficiency. </a:t>
            </a:r>
          </a:p>
          <a:p>
            <a:r>
              <a:rPr lang="en-US" dirty="0"/>
              <a:t>Users are unable to track the real-time status of their requests. </a:t>
            </a:r>
          </a:p>
          <a:p>
            <a:endParaRPr lang="en-IN" dirty="0"/>
          </a:p>
        </p:txBody>
      </p:sp>
      <p:sp>
        <p:nvSpPr>
          <p:cNvPr id="4" name="Slide Number Placeholder 3">
            <a:extLst>
              <a:ext uri="{FF2B5EF4-FFF2-40B4-BE49-F238E27FC236}">
                <a16:creationId xmlns:a16="http://schemas.microsoft.com/office/drawing/2014/main" id="{A327E56D-61E9-21D9-A66C-38116CA73A24}"/>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820839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367" y="409940"/>
            <a:ext cx="8911687" cy="853252"/>
          </a:xfrm>
        </p:spPr>
        <p:txBody>
          <a:bodyPr>
            <a:normAutofit/>
          </a:bodyPr>
          <a:lstStyle/>
          <a:p>
            <a:pPr algn="ctr"/>
            <a:r>
              <a:rPr lang="en-US" sz="4000" b="1" dirty="0">
                <a:latin typeface="Times New Roman" panose="02020603050405020304" pitchFamily="18" charset="0"/>
                <a:cs typeface="Times New Roman" panose="02020603050405020304" pitchFamily="18" charset="0"/>
              </a:rPr>
              <a:t>Objectives of the Project</a:t>
            </a:r>
          </a:p>
        </p:txBody>
      </p:sp>
      <p:sp>
        <p:nvSpPr>
          <p:cNvPr id="3" name="Content Placeholder 2"/>
          <p:cNvSpPr>
            <a:spLocks noGrp="1"/>
          </p:cNvSpPr>
          <p:nvPr>
            <p:ph idx="1"/>
          </p:nvPr>
        </p:nvSpPr>
        <p:spPr>
          <a:xfrm>
            <a:off x="1930658" y="1543018"/>
            <a:ext cx="9155264" cy="4659819"/>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 To automate the service request handling process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provide a centralized platform for managing service     requests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reduce manual effort and paperwork</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improve transparency in request processing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enable real-time tracking of service requests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ensure faster response and resolution time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To improve efficiency in workflow management</a:t>
            </a:r>
          </a:p>
        </p:txBody>
      </p:sp>
      <p:sp>
        <p:nvSpPr>
          <p:cNvPr id="4" name="Slide Number Placeholder 3"/>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900691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0825" y="570195"/>
            <a:ext cx="9534907" cy="835722"/>
          </a:xfrm>
        </p:spPr>
        <p:txBody>
          <a:bodyPr>
            <a:normAutofit/>
          </a:bodyPr>
          <a:lstStyle/>
          <a:p>
            <a:pPr algn="ctr"/>
            <a:r>
              <a:rPr lang="en-US" sz="4000" b="1" dirty="0">
                <a:latin typeface="Times New Roman" panose="02020603050405020304" pitchFamily="18" charset="0"/>
                <a:cs typeface="Times New Roman" panose="02020603050405020304" pitchFamily="18" charset="0"/>
              </a:rPr>
              <a:t>Existing System</a:t>
            </a:r>
          </a:p>
        </p:txBody>
      </p:sp>
      <p:sp>
        <p:nvSpPr>
          <p:cNvPr id="4" name="Slide Number Placeholder 3"/>
          <p:cNvSpPr>
            <a:spLocks noGrp="1"/>
          </p:cNvSpPr>
          <p:nvPr>
            <p:ph type="sldNum" sz="quarter" idx="12"/>
          </p:nvPr>
        </p:nvSpPr>
        <p:spPr/>
        <p:txBody>
          <a:bodyPr/>
          <a:lstStyle/>
          <a:p>
            <a:fld id="{D57F1E4F-1CFF-5643-939E-217C01CDF565}" type="slidenum">
              <a:rPr lang="en-US" smtClean="0"/>
              <a:pPr/>
              <a:t>6</a:t>
            </a:fld>
            <a:endParaRPr lang="en-US" dirty="0"/>
          </a:p>
        </p:txBody>
      </p:sp>
      <p:sp>
        <p:nvSpPr>
          <p:cNvPr id="5" name="Rectangle 1"/>
          <p:cNvSpPr>
            <a:spLocks noGrp="1" noChangeArrowheads="1"/>
          </p:cNvSpPr>
          <p:nvPr>
            <p:ph idx="1"/>
          </p:nvPr>
        </p:nvSpPr>
        <p:spPr bwMode="auto">
          <a:xfrm>
            <a:off x="1492819" y="1773682"/>
            <a:ext cx="1055480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requests are handled manually or semi-automatically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Requests raised through emails, phone calls, paper forms, or verbal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standardized or centralized request management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ticketing or email-based systems are used in some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Approvals, task assignments, and closures are done manually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real-time tracking of request status for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Absence of automated notifications causes delays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proper role-based access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reporting, monitoring, and analytics</a:t>
            </a:r>
          </a:p>
        </p:txBody>
      </p:sp>
    </p:spTree>
    <p:extLst>
      <p:ext uri="{BB962C8B-B14F-4D97-AF65-F5344CB8AC3E}">
        <p14:creationId xmlns:p14="http://schemas.microsoft.com/office/powerpoint/2010/main" val="2972001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6260" y="402331"/>
            <a:ext cx="8911687" cy="1280890"/>
          </a:xfrm>
        </p:spPr>
        <p:txBody>
          <a:bodyPr>
            <a:normAutofit/>
          </a:bodyPr>
          <a:lstStyle/>
          <a:p>
            <a:pPr algn="ctr"/>
            <a:r>
              <a:rPr lang="en-US" sz="4000" b="1" dirty="0">
                <a:latin typeface="Times New Roman" panose="02020603050405020304" pitchFamily="18" charset="0"/>
                <a:cs typeface="Times New Roman" panose="02020603050405020304" pitchFamily="18" charset="0"/>
              </a:rPr>
              <a:t>Proposed System</a:t>
            </a:r>
          </a:p>
        </p:txBody>
      </p:sp>
      <p:sp>
        <p:nvSpPr>
          <p:cNvPr id="4" name="Slide Number Placeholder 3"/>
          <p:cNvSpPr>
            <a:spLocks noGrp="1"/>
          </p:cNvSpPr>
          <p:nvPr>
            <p:ph type="sldNum" sz="quarter" idx="12"/>
          </p:nvPr>
        </p:nvSpPr>
        <p:spPr/>
        <p:txBody>
          <a:bodyPr/>
          <a:lstStyle/>
          <a:p>
            <a:fld id="{D57F1E4F-1CFF-5643-939E-217C01CDF565}" type="slidenum">
              <a:rPr lang="en-US" smtClean="0"/>
              <a:pPr/>
              <a:t>7</a:t>
            </a:fld>
            <a:endParaRPr lang="en-US" dirty="0"/>
          </a:p>
        </p:txBody>
      </p:sp>
      <p:sp>
        <p:nvSpPr>
          <p:cNvPr id="5" name="Rectangle 1"/>
          <p:cNvSpPr>
            <a:spLocks noGrp="1" noChangeArrowheads="1"/>
          </p:cNvSpPr>
          <p:nvPr>
            <p:ph idx="1"/>
          </p:nvPr>
        </p:nvSpPr>
        <p:spPr bwMode="auto">
          <a:xfrm>
            <a:off x="946484" y="1283368"/>
            <a:ext cx="11069053" cy="5377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automated, and role-based service request management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Eliminates limitations of manual and semi-automated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Structured workflow from request submission to closure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submit requests through a web-based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request is assigned a unique request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Requests pass through predefined stages: validation, approval, processing,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Workflow automation controls request movement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intervention and human dependency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consistent and efficient request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dashboard for monitoring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Administrators can configure workflows and assign tasks</a:t>
            </a:r>
          </a:p>
        </p:txBody>
      </p:sp>
    </p:spTree>
    <p:extLst>
      <p:ext uri="{BB962C8B-B14F-4D97-AF65-F5344CB8AC3E}">
        <p14:creationId xmlns:p14="http://schemas.microsoft.com/office/powerpoint/2010/main" val="120977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0673" y="589548"/>
            <a:ext cx="9304421" cy="5953447"/>
          </a:xfrm>
          <a:prstGeom prst="rect">
            <a:avLst/>
          </a:prstGeom>
        </p:spPr>
      </p:pic>
    </p:spTree>
    <p:extLst>
      <p:ext uri="{BB962C8B-B14F-4D97-AF65-F5344CB8AC3E}">
        <p14:creationId xmlns:p14="http://schemas.microsoft.com/office/powerpoint/2010/main" val="4011771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3658" y="440039"/>
            <a:ext cx="7641939" cy="794873"/>
          </a:xfrm>
        </p:spPr>
        <p:txBody>
          <a:bodyPr>
            <a:normAutofit/>
          </a:bodyPr>
          <a:lstStyle/>
          <a:p>
            <a:r>
              <a:rPr lang="en-US" sz="4000" dirty="0">
                <a:latin typeface="Times New Roman" panose="02020603050405020304" pitchFamily="18" charset="0"/>
                <a:cs typeface="Times New Roman" panose="02020603050405020304" pitchFamily="18" charset="0"/>
              </a:rPr>
              <a:t>MODULES USED IN PROJECT </a:t>
            </a:r>
          </a:p>
        </p:txBody>
      </p:sp>
      <p:sp>
        <p:nvSpPr>
          <p:cNvPr id="3" name="Slide Number Placeholder 2"/>
          <p:cNvSpPr>
            <a:spLocks noGrp="1"/>
          </p:cNvSpPr>
          <p:nvPr>
            <p:ph type="sldNum" sz="quarter" idx="12"/>
          </p:nvPr>
        </p:nvSpPr>
        <p:spPr/>
        <p:txBody>
          <a:bodyPr/>
          <a:lstStyle/>
          <a:p>
            <a:fld id="{D57F1E4F-1CFF-5643-939E-217C01CDF565}" type="slidenum">
              <a:rPr lang="en-US" smtClean="0"/>
              <a:pPr/>
              <a:t>9</a:t>
            </a:fld>
            <a:endParaRPr lang="en-US" dirty="0"/>
          </a:p>
        </p:txBody>
      </p:sp>
      <p:sp>
        <p:nvSpPr>
          <p:cNvPr id="4" name="Rectangle 3"/>
          <p:cNvSpPr/>
          <p:nvPr/>
        </p:nvSpPr>
        <p:spPr>
          <a:xfrm>
            <a:off x="578341" y="1512077"/>
            <a:ext cx="6176211" cy="2000548"/>
          </a:xfrm>
          <a:prstGeom prst="rect">
            <a:avLst/>
          </a:prstGeom>
        </p:spPr>
        <p:txBody>
          <a:bodyPr wrap="square">
            <a:spAutoFit/>
          </a:bodyPr>
          <a:lstStyle/>
          <a:p>
            <a:r>
              <a:rPr lang="en-US" b="1" dirty="0"/>
              <a:t>1. </a:t>
            </a:r>
            <a:r>
              <a:rPr lang="en-US" sz="2400" b="1" dirty="0">
                <a:latin typeface="Times New Roman" panose="02020603050405020304" pitchFamily="18" charset="0"/>
                <a:cs typeface="Times New Roman" panose="02020603050405020304" pitchFamily="18" charset="0"/>
              </a:rPr>
              <a:t>Admin Module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Central control unit of the system</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Manages users, request categories, and priorities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Configures workflow rules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Monitors service requests at all stages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control and accountability</a:t>
            </a:r>
          </a:p>
        </p:txBody>
      </p:sp>
      <p:sp>
        <p:nvSpPr>
          <p:cNvPr id="5" name="Rectangle 4"/>
          <p:cNvSpPr/>
          <p:nvPr/>
        </p:nvSpPr>
        <p:spPr>
          <a:xfrm>
            <a:off x="607451" y="4098237"/>
            <a:ext cx="6128084" cy="2000548"/>
          </a:xfrm>
          <a:prstGeom prst="rect">
            <a:avLst/>
          </a:prstGeom>
        </p:spPr>
        <p:txBody>
          <a:bodyPr wrap="square">
            <a:spAutoFit/>
          </a:bodyPr>
          <a:lstStyle/>
          <a:p>
            <a:r>
              <a:rPr lang="en-US" sz="2400" b="1" dirty="0"/>
              <a:t>2. User Registration &amp; Login Module</a:t>
            </a:r>
          </a:p>
          <a:p>
            <a:pPr>
              <a:buFont typeface="Arial" panose="020B0604020202020204" pitchFamily="34" charset="0"/>
              <a:buChar char="•"/>
            </a:pPr>
            <a:r>
              <a:rPr lang="en-US" sz="2000" dirty="0"/>
              <a:t>Provides secure system access</a:t>
            </a:r>
          </a:p>
          <a:p>
            <a:pPr>
              <a:buFont typeface="Arial" panose="020B0604020202020204" pitchFamily="34" charset="0"/>
              <a:buChar char="•"/>
            </a:pPr>
            <a:r>
              <a:rPr lang="en-US" sz="2000" dirty="0"/>
              <a:t>Allows user registration and login</a:t>
            </a:r>
          </a:p>
          <a:p>
            <a:pPr>
              <a:buFont typeface="Arial" panose="020B0604020202020204" pitchFamily="34" charset="0"/>
              <a:buChar char="•"/>
            </a:pPr>
            <a:r>
              <a:rPr lang="en-US" sz="2000" dirty="0"/>
              <a:t>Implements authentication and role-based access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Prevents unauthorized access</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9101501" y="3817856"/>
            <a:ext cx="2768495" cy="2856321"/>
          </a:xfrm>
          <a:prstGeom prst="rect">
            <a:avLst/>
          </a:prstGeom>
          <a:noFill/>
          <a:ln>
            <a:noFill/>
          </a:ln>
        </p:spPr>
      </p:pic>
      <p:pic>
        <p:nvPicPr>
          <p:cNvPr id="7" name="Picture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6012" y="3827283"/>
            <a:ext cx="2391743" cy="2912882"/>
          </a:xfrm>
          <a:prstGeom prst="rect">
            <a:avLst/>
          </a:prstGeom>
          <a:noFill/>
          <a:ln>
            <a:noFill/>
          </a:ln>
        </p:spPr>
      </p:pic>
      <p:pic>
        <p:nvPicPr>
          <p:cNvPr id="8" name="Picture 7"/>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35387" y="1286162"/>
            <a:ext cx="5559638" cy="2496185"/>
          </a:xfrm>
          <a:prstGeom prst="rect">
            <a:avLst/>
          </a:prstGeom>
          <a:noFill/>
          <a:ln>
            <a:noFill/>
          </a:ln>
        </p:spPr>
      </p:pic>
    </p:spTree>
    <p:extLst>
      <p:ext uri="{BB962C8B-B14F-4D97-AF65-F5344CB8AC3E}">
        <p14:creationId xmlns:p14="http://schemas.microsoft.com/office/powerpoint/2010/main" val="165616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Rectangle 2"/>
          <p:cNvSpPr/>
          <p:nvPr/>
        </p:nvSpPr>
        <p:spPr>
          <a:xfrm>
            <a:off x="843713" y="1182378"/>
            <a:ext cx="6096000" cy="1938992"/>
          </a:xfrm>
          <a:prstGeom prst="rect">
            <a:avLst/>
          </a:prstGeom>
        </p:spPr>
        <p:txBody>
          <a:bodyPr>
            <a:spAutoFit/>
          </a:bodyPr>
          <a:lstStyle/>
          <a:p>
            <a:r>
              <a:rPr lang="en-US" sz="2400" b="1" dirty="0"/>
              <a:t>3. Service Request Module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users to submit service requests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Captures request type, description, and priority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Generates unique request ID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Allows users to track request status</a:t>
            </a:r>
          </a:p>
        </p:txBody>
      </p:sp>
      <p:sp>
        <p:nvSpPr>
          <p:cNvPr id="338" name="Rectangle 337"/>
          <p:cNvSpPr/>
          <p:nvPr/>
        </p:nvSpPr>
        <p:spPr>
          <a:xfrm>
            <a:off x="786063" y="3219725"/>
            <a:ext cx="6096000" cy="1692771"/>
          </a:xfrm>
          <a:prstGeom prst="rect">
            <a:avLst/>
          </a:prstGeom>
        </p:spPr>
        <p:txBody>
          <a:bodyPr>
            <a:spAutoFit/>
          </a:bodyPr>
          <a:lstStyle/>
          <a:p>
            <a:r>
              <a:rPr lang="en-US" sz="2400" b="1" dirty="0"/>
              <a:t>4. Workflow Automation Module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Automates request flow through predefined stages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Routes requests based on configured rules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Eliminates manual forwarding</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efficiency and transparency</a:t>
            </a:r>
          </a:p>
        </p:txBody>
      </p:sp>
      <p:sp>
        <p:nvSpPr>
          <p:cNvPr id="339" name="Rectangle 338"/>
          <p:cNvSpPr/>
          <p:nvPr/>
        </p:nvSpPr>
        <p:spPr>
          <a:xfrm>
            <a:off x="808156" y="5016440"/>
            <a:ext cx="6096000" cy="1692771"/>
          </a:xfrm>
          <a:prstGeom prst="rect">
            <a:avLst/>
          </a:prstGeom>
        </p:spPr>
        <p:txBody>
          <a:bodyPr>
            <a:spAutoFit/>
          </a:bodyPr>
          <a:lstStyle/>
          <a:p>
            <a:r>
              <a:rPr lang="en-US" sz="2400" b="1" dirty="0"/>
              <a:t>5. Task Assignment &amp; Tracking Module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Assigns requests to service teams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Tracks task progress in real time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Ensures timely request completion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workload management</a:t>
            </a:r>
          </a:p>
        </p:txBody>
      </p:sp>
      <p:pic>
        <p:nvPicPr>
          <p:cNvPr id="340" name="Picture 339"/>
          <p:cNvPicPr/>
          <p:nvPr/>
        </p:nvPicPr>
        <p:blipFill>
          <a:blip r:embed="rId2"/>
          <a:stretch>
            <a:fillRect/>
          </a:stretch>
        </p:blipFill>
        <p:spPr>
          <a:xfrm>
            <a:off x="6791487" y="1173981"/>
            <a:ext cx="5084512" cy="2154756"/>
          </a:xfrm>
          <a:prstGeom prst="rect">
            <a:avLst/>
          </a:prstGeom>
        </p:spPr>
      </p:pic>
      <p:pic>
        <p:nvPicPr>
          <p:cNvPr id="341" name="Picture 34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9980" y="3529263"/>
            <a:ext cx="4957010" cy="3015464"/>
          </a:xfrm>
          <a:prstGeom prst="rect">
            <a:avLst/>
          </a:prstGeom>
          <a:noFill/>
          <a:ln>
            <a:noFill/>
          </a:ln>
        </p:spPr>
      </p:pic>
    </p:spTree>
    <p:extLst>
      <p:ext uri="{BB962C8B-B14F-4D97-AF65-F5344CB8AC3E}">
        <p14:creationId xmlns:p14="http://schemas.microsoft.com/office/powerpoint/2010/main" val="930913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Rectangle 2"/>
          <p:cNvSpPr/>
          <p:nvPr/>
        </p:nvSpPr>
        <p:spPr>
          <a:xfrm>
            <a:off x="673768" y="1374885"/>
            <a:ext cx="6096000" cy="2308324"/>
          </a:xfrm>
          <a:prstGeom prst="rect">
            <a:avLst/>
          </a:prstGeom>
        </p:spPr>
        <p:txBody>
          <a:bodyPr>
            <a:spAutoFit/>
          </a:bodyPr>
          <a:lstStyle/>
          <a:p>
            <a:r>
              <a:rPr lang="en-US" sz="2400" b="1" dirty="0"/>
              <a:t>6. Notification Module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Sends alerts for request updates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Notifies users during approval and </a:t>
            </a:r>
          </a:p>
          <a:p>
            <a:r>
              <a:rPr lang="en-US" sz="2400" dirty="0">
                <a:latin typeface="Times New Roman" panose="02020603050405020304" pitchFamily="18" charset="0"/>
                <a:cs typeface="Times New Roman" panose="02020603050405020304" pitchFamily="18" charset="0"/>
              </a:rPr>
              <a:t>completion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follow-ups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a:t>
            </a:r>
          </a:p>
        </p:txBody>
      </p:sp>
      <p:sp>
        <p:nvSpPr>
          <p:cNvPr id="4" name="Rectangle 3"/>
          <p:cNvSpPr/>
          <p:nvPr/>
        </p:nvSpPr>
        <p:spPr>
          <a:xfrm>
            <a:off x="689811" y="4053914"/>
            <a:ext cx="6096000" cy="1938992"/>
          </a:xfrm>
          <a:prstGeom prst="rect">
            <a:avLst/>
          </a:prstGeom>
        </p:spPr>
        <p:txBody>
          <a:bodyPr>
            <a:spAutoFit/>
          </a:bodyPr>
          <a:lstStyle/>
          <a:p>
            <a:r>
              <a:rPr lang="en-US" sz="2400" b="1" dirty="0"/>
              <a:t>7. Report &amp; Analytics Module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Generates reports on request status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Analyzes response time and performance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in decision-making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service quality</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63917" y="3978442"/>
            <a:ext cx="5951620" cy="2608497"/>
          </a:xfrm>
          <a:prstGeom prst="rect">
            <a:avLst/>
          </a:prstGeom>
          <a:noFill/>
          <a:ln>
            <a:noFill/>
          </a:ln>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5903494" y="1315452"/>
            <a:ext cx="6150426" cy="2472138"/>
          </a:xfrm>
          <a:prstGeom prst="rect">
            <a:avLst/>
          </a:prstGeom>
          <a:noFill/>
          <a:ln>
            <a:noFill/>
          </a:ln>
        </p:spPr>
      </p:pic>
    </p:spTree>
    <p:extLst>
      <p:ext uri="{BB962C8B-B14F-4D97-AF65-F5344CB8AC3E}">
        <p14:creationId xmlns:p14="http://schemas.microsoft.com/office/powerpoint/2010/main" val="3834443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0820" y="704320"/>
            <a:ext cx="8911687" cy="1280890"/>
          </a:xfrm>
        </p:spPr>
        <p:txBody>
          <a:bodyPr/>
          <a:lstStyle/>
          <a:p>
            <a:pPr algn="ctr"/>
            <a:r>
              <a:rPr lang="en-US" b="1" dirty="0"/>
              <a:t>REQUIREMENT ANALYSIS </a:t>
            </a:r>
          </a:p>
        </p:txBody>
      </p:sp>
      <p:sp>
        <p:nvSpPr>
          <p:cNvPr id="3" name="Content Placeholder 2"/>
          <p:cNvSpPr>
            <a:spLocks noGrp="1"/>
          </p:cNvSpPr>
          <p:nvPr>
            <p:ph idx="1"/>
          </p:nvPr>
        </p:nvSpPr>
        <p:spPr>
          <a:xfrm>
            <a:off x="1104904" y="2194957"/>
            <a:ext cx="4340977" cy="3769895"/>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Hardware Requirements</a:t>
            </a:r>
          </a:p>
          <a:p>
            <a:pPr marL="0" indent="0">
              <a:buNone/>
            </a:pPr>
            <a:r>
              <a:rPr lang="en-US" dirty="0"/>
              <a:t> </a:t>
            </a:r>
            <a:r>
              <a:rPr lang="en-US" sz="2000" dirty="0">
                <a:latin typeface="Times New Roman" panose="02020603050405020304" pitchFamily="18" charset="0"/>
                <a:cs typeface="Times New Roman" panose="02020603050405020304" pitchFamily="18" charset="0"/>
              </a:rPr>
              <a:t> Processor: Intel Core i3 or above</a:t>
            </a:r>
          </a:p>
          <a:p>
            <a:pPr marL="0" indent="0">
              <a:buNone/>
            </a:pPr>
            <a:r>
              <a:rPr lang="en-US" sz="2000" dirty="0">
                <a:latin typeface="Times New Roman" panose="02020603050405020304" pitchFamily="18" charset="0"/>
                <a:cs typeface="Times New Roman" panose="02020603050405020304" pitchFamily="18" charset="0"/>
              </a:rPr>
              <a:t>  RAM: Minimum 4 GB</a:t>
            </a:r>
          </a:p>
          <a:p>
            <a:pPr marL="0" indent="0">
              <a:buNone/>
            </a:pPr>
            <a:r>
              <a:rPr lang="en-US" sz="2000" dirty="0">
                <a:latin typeface="Times New Roman" panose="02020603050405020304" pitchFamily="18" charset="0"/>
                <a:cs typeface="Times New Roman" panose="02020603050405020304" pitchFamily="18" charset="0"/>
              </a:rPr>
              <a:t>  Hard Disk: Minimum 250 GB</a:t>
            </a:r>
          </a:p>
          <a:p>
            <a:pPr marL="0" indent="0">
              <a:buNone/>
            </a:pPr>
            <a:r>
              <a:rPr lang="en-US" sz="2000" dirty="0">
                <a:latin typeface="Times New Roman" panose="02020603050405020304" pitchFamily="18" charset="0"/>
                <a:cs typeface="Times New Roman" panose="02020603050405020304" pitchFamily="18" charset="0"/>
              </a:rPr>
              <a:t>  Internet Connection: Required</a:t>
            </a:r>
          </a:p>
          <a:p>
            <a:pPr marL="0" indent="0">
              <a:buNone/>
            </a:pPr>
            <a:r>
              <a:rPr lang="en-US" sz="2000" dirty="0">
                <a:latin typeface="Times New Roman" panose="02020603050405020304" pitchFamily="18" charset="0"/>
                <a:cs typeface="Times New Roman" panose="02020603050405020304" pitchFamily="18" charset="0"/>
              </a:rPr>
              <a:t>  Input Devices: Keyboard, Mouse</a:t>
            </a:r>
          </a:p>
          <a:p>
            <a:pPr marL="0" indent="0">
              <a:buNone/>
            </a:pPr>
            <a:r>
              <a:rPr lang="en-US" sz="2000" dirty="0">
                <a:latin typeface="Times New Roman" panose="02020603050405020304" pitchFamily="18" charset="0"/>
                <a:cs typeface="Times New Roman" panose="02020603050405020304" pitchFamily="18" charset="0"/>
              </a:rPr>
              <a:t>  Output Device: Monitor</a:t>
            </a:r>
          </a:p>
          <a:p>
            <a:pPr marL="0" indent="0">
              <a:buNone/>
            </a:pPr>
            <a:r>
              <a:rPr lang="en-US" dirty="0"/>
              <a:t> </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12</a:t>
            </a:fld>
            <a:endParaRPr lang="en-US" dirty="0"/>
          </a:p>
        </p:txBody>
      </p:sp>
      <p:sp>
        <p:nvSpPr>
          <p:cNvPr id="5" name="Rectangle 4"/>
          <p:cNvSpPr/>
          <p:nvPr/>
        </p:nvSpPr>
        <p:spPr>
          <a:xfrm>
            <a:off x="5775158" y="2124582"/>
            <a:ext cx="6144127" cy="3539430"/>
          </a:xfrm>
          <a:prstGeom prst="rect">
            <a:avLst/>
          </a:prstGeom>
        </p:spPr>
        <p:txBody>
          <a:bodyPr wrap="square">
            <a:spAutoFit/>
          </a:bodyPr>
          <a:lstStyle/>
          <a:p>
            <a:r>
              <a:rPr lang="en-US" dirty="0"/>
              <a:t> </a:t>
            </a:r>
            <a:r>
              <a:rPr lang="en-US" sz="2400" b="1" dirty="0"/>
              <a:t>Software Requirements</a:t>
            </a:r>
          </a:p>
          <a:p>
            <a:r>
              <a:rPr lang="en-US" sz="2000" dirty="0">
                <a:latin typeface="Times New Roman" panose="02020603050405020304" pitchFamily="18" charset="0"/>
                <a:cs typeface="Times New Roman" panose="02020603050405020304" pitchFamily="18" charset="0"/>
              </a:rPr>
              <a:t> Operating System: Windows 10 / Linux </a:t>
            </a:r>
          </a:p>
          <a:p>
            <a:pPr algn="just"/>
            <a:r>
              <a:rPr lang="en-US" sz="2000" dirty="0">
                <a:latin typeface="Times New Roman" panose="02020603050405020304" pitchFamily="18" charset="0"/>
                <a:cs typeface="Times New Roman" panose="02020603050405020304" pitchFamily="18" charset="0"/>
              </a:rPr>
              <a:t>Frontend Technologies: HTML, CSS, Bootstrap,  	JavaScript / React</a:t>
            </a:r>
          </a:p>
          <a:p>
            <a:pPr algn="just"/>
            <a:r>
              <a:rPr lang="en-US" sz="2000" dirty="0">
                <a:latin typeface="Times New Roman" panose="02020603050405020304" pitchFamily="18" charset="0"/>
                <a:cs typeface="Times New Roman" panose="02020603050405020304" pitchFamily="18" charset="0"/>
              </a:rPr>
              <a:t>Backend Technology: Java, Spring Boot, 	REST(</a:t>
            </a:r>
            <a:r>
              <a:rPr lang="en-US" dirty="0"/>
              <a:t>Representational State Transfer</a:t>
            </a:r>
            <a:r>
              <a:rPr lang="en-US" b="1" dirty="0"/>
              <a:t>)</a:t>
            </a:r>
            <a:r>
              <a:rPr lang="en-US" sz="2000" dirty="0">
                <a:latin typeface="Times New Roman" panose="02020603050405020304" pitchFamily="18" charset="0"/>
                <a:cs typeface="Times New Roman" panose="02020603050405020304" pitchFamily="18" charset="0"/>
              </a:rPr>
              <a:t> APIs     </a:t>
            </a:r>
          </a:p>
          <a:p>
            <a:pPr algn="just"/>
            <a:r>
              <a:rPr lang="en-US" sz="2000" dirty="0">
                <a:latin typeface="Times New Roman" panose="02020603050405020304" pitchFamily="18" charset="0"/>
                <a:cs typeface="Times New Roman" panose="02020603050405020304" pitchFamily="18" charset="0"/>
              </a:rPr>
              <a:t> Database: MySQL</a:t>
            </a:r>
          </a:p>
          <a:p>
            <a:pPr algn="just"/>
            <a:r>
              <a:rPr lang="en-US" sz="2000" dirty="0">
                <a:latin typeface="Times New Roman" panose="02020603050405020304" pitchFamily="18" charset="0"/>
                <a:cs typeface="Times New Roman" panose="02020603050405020304" pitchFamily="18" charset="0"/>
              </a:rPr>
              <a:t> Web Server: Apache Tomcat</a:t>
            </a:r>
          </a:p>
          <a:p>
            <a:pPr algn="just"/>
            <a:r>
              <a:rPr lang="en-US" sz="2000" dirty="0">
                <a:latin typeface="Times New Roman" panose="02020603050405020304" pitchFamily="18" charset="0"/>
                <a:cs typeface="Times New Roman" panose="02020603050405020304" pitchFamily="18" charset="0"/>
              </a:rPr>
              <a:t> Development Tools: Eclipse / IntelliJ IDEA, Postman, 	VS code</a:t>
            </a:r>
          </a:p>
          <a:p>
            <a:pPr algn="just"/>
            <a:r>
              <a:rPr lang="en-US" sz="2000" dirty="0">
                <a:latin typeface="Times New Roman" panose="02020603050405020304" pitchFamily="18" charset="0"/>
                <a:cs typeface="Times New Roman" panose="02020603050405020304" pitchFamily="18" charset="0"/>
              </a:rPr>
              <a:t> Browser: Google Chrome / Mozilla Firefox</a:t>
            </a:r>
          </a:p>
        </p:txBody>
      </p:sp>
    </p:spTree>
    <p:extLst>
      <p:ext uri="{BB962C8B-B14F-4D97-AF65-F5344CB8AC3E}">
        <p14:creationId xmlns:p14="http://schemas.microsoft.com/office/powerpoint/2010/main" val="58609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4422" y="399521"/>
            <a:ext cx="9723937" cy="1280890"/>
          </a:xfrm>
        </p:spPr>
        <p:txBody>
          <a:bodyPr/>
          <a:lstStyle/>
          <a:p>
            <a:r>
              <a:rPr lang="en-US" b="1" dirty="0"/>
              <a:t>Advantages and Disadvantages of the System</a:t>
            </a:r>
          </a:p>
        </p:txBody>
      </p:sp>
      <p:sp>
        <p:nvSpPr>
          <p:cNvPr id="3" name="Slide Number Placeholder 2"/>
          <p:cNvSpPr>
            <a:spLocks noGrp="1"/>
          </p:cNvSpPr>
          <p:nvPr>
            <p:ph type="sldNum" sz="quarter" idx="12"/>
          </p:nvPr>
        </p:nvSpPr>
        <p:spPr/>
        <p:txBody>
          <a:bodyPr/>
          <a:lstStyle/>
          <a:p>
            <a:fld id="{D57F1E4F-1CFF-5643-939E-217C01CDF565}" type="slidenum">
              <a:rPr lang="en-US" smtClean="0"/>
              <a:pPr/>
              <a:t>13</a:t>
            </a:fld>
            <a:endParaRPr lang="en-US" dirty="0"/>
          </a:p>
        </p:txBody>
      </p:sp>
      <p:sp>
        <p:nvSpPr>
          <p:cNvPr id="4" name="Rectangle 3"/>
          <p:cNvSpPr/>
          <p:nvPr/>
        </p:nvSpPr>
        <p:spPr>
          <a:xfrm>
            <a:off x="1251284" y="1964160"/>
            <a:ext cx="5005137" cy="4154984"/>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Automates the complete service request process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effort and paperwork</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centralized request management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transparency with real-time status tracking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Faster request processing and response time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Role-based access ensures security</a:t>
            </a:r>
          </a:p>
        </p:txBody>
      </p:sp>
      <p:sp>
        <p:nvSpPr>
          <p:cNvPr id="5" name="Rectangle 4"/>
          <p:cNvSpPr/>
          <p:nvPr/>
        </p:nvSpPr>
        <p:spPr>
          <a:xfrm>
            <a:off x="6384757" y="1996242"/>
            <a:ext cx="5807243" cy="3785652"/>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Disadvantages:</a:t>
            </a:r>
          </a:p>
          <a:p>
            <a:pPr>
              <a:buFont typeface="Arial" panose="020B0604020202020204" pitchFamily="34" charset="0"/>
              <a:buChar char="•"/>
            </a:pPr>
            <a:r>
              <a:rPr lang="en-US" sz="2400" dirty="0"/>
              <a:t>Initial setup and configuration cost</a:t>
            </a:r>
          </a:p>
          <a:p>
            <a:pPr>
              <a:buFont typeface="Arial" panose="020B0604020202020204" pitchFamily="34" charset="0"/>
              <a:buChar char="•"/>
            </a:pPr>
            <a:r>
              <a:rPr lang="en-US" sz="2400" dirty="0"/>
              <a:t>Requires internet connectivity</a:t>
            </a:r>
          </a:p>
          <a:p>
            <a:pPr>
              <a:buFont typeface="Arial" panose="020B0604020202020204" pitchFamily="34" charset="0"/>
              <a:buChar char="•"/>
            </a:pPr>
            <a:r>
              <a:rPr lang="en-US" sz="2400" dirty="0"/>
              <a:t>Needs user training for effective usage</a:t>
            </a:r>
          </a:p>
          <a:p>
            <a:pPr>
              <a:buFont typeface="Arial" panose="020B0604020202020204" pitchFamily="34" charset="0"/>
              <a:buChar char="•"/>
            </a:pPr>
            <a:r>
              <a:rPr lang="en-US" sz="2400" dirty="0"/>
              <a:t>Depends on system availability</a:t>
            </a:r>
          </a:p>
          <a:p>
            <a:pPr>
              <a:buFont typeface="Arial" panose="020B0604020202020204" pitchFamily="34" charset="0"/>
              <a:buChar char="•"/>
            </a:pPr>
            <a:r>
              <a:rPr lang="en-US" sz="2400" dirty="0"/>
              <a:t>Maintenance and updates are required</a:t>
            </a:r>
          </a:p>
          <a:p>
            <a:pPr>
              <a:buFont typeface="Arial" panose="020B0604020202020204" pitchFamily="34" charset="0"/>
              <a:buChar char="•"/>
            </a:pPr>
            <a:r>
              <a:rPr lang="en-US" sz="2400" dirty="0"/>
              <a:t>Data security must be managed properly</a:t>
            </a:r>
          </a:p>
        </p:txBody>
      </p:sp>
    </p:spTree>
    <p:extLst>
      <p:ext uri="{BB962C8B-B14F-4D97-AF65-F5344CB8AC3E}">
        <p14:creationId xmlns:p14="http://schemas.microsoft.com/office/powerpoint/2010/main" val="1446203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924" y="142847"/>
            <a:ext cx="8911687" cy="915932"/>
          </a:xfrm>
        </p:spPr>
        <p:txBody>
          <a:bodyPr>
            <a:normAutofit/>
          </a:bodyPr>
          <a:lstStyle/>
          <a:p>
            <a:pPr algn="ctr"/>
            <a:r>
              <a:rPr lang="en-US" sz="4000" dirty="0">
                <a:latin typeface="Times New Roman" panose="02020603050405020304" pitchFamily="18" charset="0"/>
                <a:cs typeface="Times New Roman" panose="02020603050405020304" pitchFamily="18" charset="0"/>
              </a:rPr>
              <a:t>Result Analysis</a:t>
            </a:r>
          </a:p>
        </p:txBody>
      </p:sp>
      <p:sp>
        <p:nvSpPr>
          <p:cNvPr id="3" name="Slide Number Placeholder 2"/>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78623" y="1612677"/>
            <a:ext cx="3775509" cy="3978409"/>
          </a:xfrm>
          <a:prstGeom prst="rect">
            <a:avLst/>
          </a:prstGeom>
          <a:noFill/>
          <a:ln>
            <a:noFill/>
          </a:ln>
        </p:spPr>
      </p:pic>
      <p:sp>
        <p:nvSpPr>
          <p:cNvPr id="5" name="Rectangle 4"/>
          <p:cNvSpPr/>
          <p:nvPr/>
        </p:nvSpPr>
        <p:spPr>
          <a:xfrm>
            <a:off x="993526" y="5814875"/>
            <a:ext cx="1997342"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User Login Screen</a:t>
            </a:r>
            <a:endParaRPr lang="en-US" dirty="0"/>
          </a:p>
        </p:txBody>
      </p:sp>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2496" y="1759776"/>
            <a:ext cx="3652620" cy="3844542"/>
          </a:xfrm>
          <a:prstGeom prst="rect">
            <a:avLst/>
          </a:prstGeom>
          <a:noFill/>
          <a:ln>
            <a:noFill/>
          </a:ln>
        </p:spPr>
      </p:pic>
      <p:sp>
        <p:nvSpPr>
          <p:cNvPr id="7" name="Rectangle 6"/>
          <p:cNvSpPr/>
          <p:nvPr/>
        </p:nvSpPr>
        <p:spPr>
          <a:xfrm>
            <a:off x="4554288" y="5852581"/>
            <a:ext cx="2638543"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User Registration Screen</a:t>
            </a:r>
            <a:endParaRPr lang="en-US" dirty="0"/>
          </a:p>
        </p:txBody>
      </p:sp>
      <p:pic>
        <p:nvPicPr>
          <p:cNvPr id="9" name="Picture 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6859" y="1718694"/>
            <a:ext cx="4458878" cy="3847916"/>
          </a:xfrm>
          <a:prstGeom prst="rect">
            <a:avLst/>
          </a:prstGeom>
          <a:noFill/>
          <a:ln>
            <a:noFill/>
          </a:ln>
        </p:spPr>
      </p:pic>
      <p:sp>
        <p:nvSpPr>
          <p:cNvPr id="10" name="Rectangle 9"/>
          <p:cNvSpPr/>
          <p:nvPr/>
        </p:nvSpPr>
        <p:spPr>
          <a:xfrm>
            <a:off x="8636370" y="5795029"/>
            <a:ext cx="1789914"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User Dashboard</a:t>
            </a:r>
            <a:endParaRPr lang="en-US" dirty="0"/>
          </a:p>
        </p:txBody>
      </p:sp>
    </p:spTree>
    <p:extLst>
      <p:ext uri="{BB962C8B-B14F-4D97-AF65-F5344CB8AC3E}">
        <p14:creationId xmlns:p14="http://schemas.microsoft.com/office/powerpoint/2010/main" val="1489140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3" name="Picture 2"/>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3254" y="1311681"/>
            <a:ext cx="5656205" cy="4372682"/>
          </a:xfrm>
          <a:prstGeom prst="rect">
            <a:avLst/>
          </a:prstGeom>
          <a:noFill/>
          <a:ln>
            <a:noFill/>
          </a:ln>
        </p:spPr>
      </p:pic>
      <p:sp>
        <p:nvSpPr>
          <p:cNvPr id="4" name="Rectangle 3"/>
          <p:cNvSpPr/>
          <p:nvPr/>
        </p:nvSpPr>
        <p:spPr>
          <a:xfrm>
            <a:off x="998751" y="5827940"/>
            <a:ext cx="4277774"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Create New Request – Category Selection</a:t>
            </a:r>
            <a:endParaRPr lang="en-US" dirty="0"/>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7625" y="1357460"/>
            <a:ext cx="6066391" cy="4315491"/>
          </a:xfrm>
          <a:prstGeom prst="rect">
            <a:avLst/>
          </a:prstGeom>
          <a:noFill/>
          <a:ln>
            <a:noFill/>
          </a:ln>
        </p:spPr>
      </p:pic>
      <p:sp>
        <p:nvSpPr>
          <p:cNvPr id="6" name="Rectangle 5"/>
          <p:cNvSpPr/>
          <p:nvPr/>
        </p:nvSpPr>
        <p:spPr>
          <a:xfrm>
            <a:off x="7922877" y="5813718"/>
            <a:ext cx="2236510"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My Service Requests</a:t>
            </a:r>
            <a:endParaRPr lang="en-US" dirty="0"/>
          </a:p>
        </p:txBody>
      </p:sp>
    </p:spTree>
    <p:extLst>
      <p:ext uri="{BB962C8B-B14F-4D97-AF65-F5344CB8AC3E}">
        <p14:creationId xmlns:p14="http://schemas.microsoft.com/office/powerpoint/2010/main" val="1571286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3" name="Picture 2"/>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911" y="169683"/>
            <a:ext cx="10825114" cy="3091992"/>
          </a:xfrm>
          <a:prstGeom prst="rect">
            <a:avLst/>
          </a:prstGeom>
          <a:noFill/>
          <a:ln>
            <a:noFill/>
          </a:ln>
        </p:spPr>
      </p:pic>
      <p:sp>
        <p:nvSpPr>
          <p:cNvPr id="4" name="Rectangle 3"/>
          <p:cNvSpPr/>
          <p:nvPr/>
        </p:nvSpPr>
        <p:spPr>
          <a:xfrm>
            <a:off x="5016029" y="3241686"/>
            <a:ext cx="2012089"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Admin Dashboard</a:t>
            </a:r>
            <a:endParaRPr lang="en-US" dirty="0"/>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660" y="3525622"/>
            <a:ext cx="5218409" cy="2988298"/>
          </a:xfrm>
          <a:prstGeom prst="rect">
            <a:avLst/>
          </a:prstGeom>
          <a:noFill/>
          <a:ln>
            <a:noFill/>
          </a:ln>
        </p:spPr>
      </p:pic>
      <p:sp>
        <p:nvSpPr>
          <p:cNvPr id="6" name="Rectangle 5"/>
          <p:cNvSpPr/>
          <p:nvPr/>
        </p:nvSpPr>
        <p:spPr>
          <a:xfrm>
            <a:off x="1028739" y="6488668"/>
            <a:ext cx="2611933" cy="369332"/>
          </a:xfrm>
          <a:prstGeom prst="rect">
            <a:avLst/>
          </a:prstGeom>
        </p:spPr>
        <p:txBody>
          <a:bodyPr wrap="none">
            <a:spAutoFit/>
          </a:bodyPr>
          <a:lstStyle/>
          <a:p>
            <a:pPr marL="153670" marR="0" indent="457200">
              <a:spcBef>
                <a:spcPts val="0"/>
              </a:spcBef>
              <a:spcAft>
                <a:spcPts val="360"/>
              </a:spcAft>
            </a:pPr>
            <a:r>
              <a:rPr lang="en-US" b="1" kern="100" dirty="0">
                <a:solidFill>
                  <a:srgbClr val="000000"/>
                </a:solidFill>
                <a:latin typeface="Times New Roman" panose="02020603050405020304" pitchFamily="18" charset="0"/>
                <a:ea typeface="Times New Roman" panose="02020603050405020304" pitchFamily="18" charset="0"/>
              </a:rPr>
              <a:t>User Management</a:t>
            </a:r>
            <a:endParaRPr lang="en-US" kern="100" dirty="0">
              <a:solidFill>
                <a:srgbClr val="000000"/>
              </a:solidFill>
              <a:latin typeface="Times New Roman" panose="02020603050405020304" pitchFamily="18" charset="0"/>
              <a:ea typeface="Times New Roman" panose="02020603050405020304" pitchFamily="18" charset="0"/>
            </a:endParaRPr>
          </a:p>
        </p:txBody>
      </p:sp>
      <p:pic>
        <p:nvPicPr>
          <p:cNvPr id="7" name="Picture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38887" y="3610465"/>
            <a:ext cx="6127422" cy="2846896"/>
          </a:xfrm>
          <a:prstGeom prst="rect">
            <a:avLst/>
          </a:prstGeom>
          <a:noFill/>
          <a:ln>
            <a:noFill/>
          </a:ln>
        </p:spPr>
      </p:pic>
      <p:sp>
        <p:nvSpPr>
          <p:cNvPr id="8" name="Rectangle 7"/>
          <p:cNvSpPr/>
          <p:nvPr/>
        </p:nvSpPr>
        <p:spPr>
          <a:xfrm>
            <a:off x="7920251" y="6488668"/>
            <a:ext cx="3082895" cy="369332"/>
          </a:xfrm>
          <a:prstGeom prst="rect">
            <a:avLst/>
          </a:prstGeom>
        </p:spPr>
        <p:txBody>
          <a:bodyPr wrap="none">
            <a:spAutoFit/>
          </a:bodyPr>
          <a:lstStyle/>
          <a:p>
            <a:r>
              <a:rPr lang="en-US" b="1" dirty="0">
                <a:solidFill>
                  <a:srgbClr val="000000"/>
                </a:solidFill>
                <a:latin typeface="Times New Roman" panose="02020603050405020304" pitchFamily="18" charset="0"/>
                <a:ea typeface="Times New Roman" panose="02020603050405020304" pitchFamily="18" charset="0"/>
              </a:rPr>
              <a:t>Service Catalog Management</a:t>
            </a:r>
            <a:endParaRPr lang="en-US" dirty="0"/>
          </a:p>
        </p:txBody>
      </p:sp>
    </p:spTree>
    <p:extLst>
      <p:ext uri="{BB962C8B-B14F-4D97-AF65-F5344CB8AC3E}">
        <p14:creationId xmlns:p14="http://schemas.microsoft.com/office/powerpoint/2010/main" val="2485766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3939" y="558122"/>
            <a:ext cx="8911687" cy="761630"/>
          </a:xfrm>
        </p:spPr>
        <p:txBody>
          <a:bodyPr/>
          <a:lstStyle/>
          <a:p>
            <a:pPr algn="ctr"/>
            <a:r>
              <a:rPr lang="en-US" b="1" dirty="0"/>
              <a:t>Conclusion &amp; Future Scope</a:t>
            </a:r>
          </a:p>
        </p:txBody>
      </p:sp>
      <p:sp>
        <p:nvSpPr>
          <p:cNvPr id="4" name="Slide Number Placeholder 3"/>
          <p:cNvSpPr>
            <a:spLocks noGrp="1"/>
          </p:cNvSpPr>
          <p:nvPr>
            <p:ph type="sldNum" sz="quarter" idx="12"/>
          </p:nvPr>
        </p:nvSpPr>
        <p:spPr/>
        <p:txBody>
          <a:bodyPr/>
          <a:lstStyle/>
          <a:p>
            <a:fld id="{D57F1E4F-1CFF-5643-939E-217C01CDF565}" type="slidenum">
              <a:rPr lang="en-US" smtClean="0"/>
              <a:pPr/>
              <a:t>17</a:t>
            </a:fld>
            <a:endParaRPr lang="en-US" dirty="0"/>
          </a:p>
        </p:txBody>
      </p:sp>
      <p:sp>
        <p:nvSpPr>
          <p:cNvPr id="6" name="Rectangle 5"/>
          <p:cNvSpPr/>
          <p:nvPr/>
        </p:nvSpPr>
        <p:spPr>
          <a:xfrm>
            <a:off x="1443789" y="1628871"/>
            <a:ext cx="5261811" cy="4524315"/>
          </a:xfrm>
          <a:prstGeom prst="rect">
            <a:avLst/>
          </a:prstGeom>
        </p:spPr>
        <p:txBody>
          <a:bodyPr wrap="square">
            <a:spAutoFit/>
          </a:bodyPr>
          <a:lstStyle/>
          <a:p>
            <a:r>
              <a:rPr lang="en-US" sz="2400" b="1" dirty="0"/>
              <a:t>Conclusion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Service Request &amp; Workflow Automation System successfully automates service request handling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Eliminates manual processes and improves efficiency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centralized and transparent request management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faster response and better accountability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Enhances overall organizational productivity and user satisfaction</a:t>
            </a:r>
          </a:p>
        </p:txBody>
      </p:sp>
      <p:sp>
        <p:nvSpPr>
          <p:cNvPr id="9" name="Rectangle 8"/>
          <p:cNvSpPr/>
          <p:nvPr/>
        </p:nvSpPr>
        <p:spPr>
          <a:xfrm>
            <a:off x="6537737" y="1607503"/>
            <a:ext cx="5550568" cy="4154984"/>
          </a:xfrm>
          <a:prstGeom prst="rect">
            <a:avLst/>
          </a:prstGeom>
        </p:spPr>
        <p:txBody>
          <a:bodyPr wrap="square">
            <a:spAutoFit/>
          </a:bodyPr>
          <a:lstStyle/>
          <a:p>
            <a:r>
              <a:rPr lang="en-US" sz="2400" b="1" dirty="0"/>
              <a:t>Future Scope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Development of mobile application support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Integration with email and SMS notifications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Advanced reporting and analytics features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AI-based request prioritization and routing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Cloud deployment for scalability and availability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Integration with third-party enterprise systems</a:t>
            </a:r>
          </a:p>
        </p:txBody>
      </p:sp>
    </p:spTree>
    <p:extLst>
      <p:ext uri="{BB962C8B-B14F-4D97-AF65-F5344CB8AC3E}">
        <p14:creationId xmlns:p14="http://schemas.microsoft.com/office/powerpoint/2010/main" val="1527291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8226" y="2688580"/>
            <a:ext cx="9116488" cy="1280890"/>
          </a:xfrm>
        </p:spPr>
        <p:txBody>
          <a:bodyPr>
            <a:noAutofit/>
          </a:bodyPr>
          <a:lstStyle/>
          <a:p>
            <a:r>
              <a:rPr lang="en-US" sz="9600" b="1" i="1" dirty="0"/>
              <a:t>Thank you</a:t>
            </a:r>
          </a:p>
        </p:txBody>
      </p:sp>
      <p:sp>
        <p:nvSpPr>
          <p:cNvPr id="3" name="Slide Number Placeholder 2"/>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3649145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492</TotalTime>
  <Words>1167</Words>
  <Application>Microsoft Office PowerPoint</Application>
  <PresentationFormat>Widescreen</PresentationFormat>
  <Paragraphs>178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Times New Roman</vt:lpstr>
      <vt:lpstr>Wingdings 3</vt:lpstr>
      <vt:lpstr>Wisp</vt:lpstr>
      <vt:lpstr>Service Request And Workflow Automation System</vt:lpstr>
      <vt:lpstr>Abstract</vt:lpstr>
      <vt:lpstr>Introduction</vt:lpstr>
      <vt:lpstr>Problem Statement </vt:lpstr>
      <vt:lpstr>Objectives of the Project</vt:lpstr>
      <vt:lpstr>Existing System</vt:lpstr>
      <vt:lpstr>Proposed System</vt:lpstr>
      <vt:lpstr>PowerPoint Presentation</vt:lpstr>
      <vt:lpstr>MODULES USED IN PROJECT </vt:lpstr>
      <vt:lpstr>PowerPoint Presentation</vt:lpstr>
      <vt:lpstr>PowerPoint Presentation</vt:lpstr>
      <vt:lpstr>REQUIREMENT ANALYSIS </vt:lpstr>
      <vt:lpstr>Advantages and Disadvantages of the System</vt:lpstr>
      <vt:lpstr>Result Analysis</vt:lpstr>
      <vt:lpstr>PowerPoint Presentation</vt:lpstr>
      <vt:lpstr>PowerPoint Presentation</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request &amp; Workflow Automation System</dc:title>
  <dc:creator>PC</dc:creator>
  <cp:lastModifiedBy>Durga Prasad Doddipatla</cp:lastModifiedBy>
  <cp:revision>37</cp:revision>
  <dcterms:created xsi:type="dcterms:W3CDTF">2026-01-30T06:12:29Z</dcterms:created>
  <dcterms:modified xsi:type="dcterms:W3CDTF">2026-04-09T06:30:05Z</dcterms:modified>
</cp:coreProperties>
</file>